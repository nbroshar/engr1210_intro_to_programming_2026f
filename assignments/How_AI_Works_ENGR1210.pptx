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E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54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spc="300" kern="0" dirty="0">
                <a:solidFill>
                  <a:srgbClr val="F4D5DC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ENGR 1210  ·  AI TUTOR COMPANION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0" y="196596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How AI Actually Works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5090008" y="3017520"/>
            <a:ext cx="2011680" cy="27432"/>
          </a:xfrm>
          <a:prstGeom prst="rect">
            <a:avLst/>
          </a:prstGeom>
          <a:solidFill>
            <a:srgbClr val="F4D5DC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And why we write prompts the way we do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0" y="5532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400" kern="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DUNWOODY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0" y="60350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F4D5DC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COLLEGE OF TECHNOLOGY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Step One</a:t>
            </a:r>
            <a:pPr indent="0" marL="0">
              <a:buNone/>
            </a:pPr>
            <a:r>
              <a:rPr lang="en-US" sz="26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|  </a:t>
            </a:r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What a Language Model Really 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3774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7043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77777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Before the prompting tricks, the one idea everything rests on: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442106" cy="429768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783080"/>
            <a:ext cx="344210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It predicts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807208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next word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3355848"/>
            <a:ext cx="293004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An LLM is trained on huge amounts of text to do one thing: guess the most likely next word, over and over. That's it.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74794" y="1783080"/>
            <a:ext cx="3442106" cy="429768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1" name="Shape 9"/>
          <p:cNvSpPr/>
          <p:nvPr/>
        </p:nvSpPr>
        <p:spPr>
          <a:xfrm>
            <a:off x="4374794" y="1783080"/>
            <a:ext cx="344210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2" name="Text 10"/>
          <p:cNvSpPr/>
          <p:nvPr/>
        </p:nvSpPr>
        <p:spPr>
          <a:xfrm>
            <a:off x="4630826" y="2148840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It doesn't know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30826" y="2807208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no facts, no lookup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30826" y="3355848"/>
            <a:ext cx="293004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It has no database and looks nothing up. It has patterns from training — not stored, checkable facts.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82661" y="1783080"/>
            <a:ext cx="3442106" cy="4297680"/>
          </a:xfrm>
          <a:prstGeom prst="rect">
            <a:avLst/>
          </a:prstGeom>
          <a:solidFill>
            <a:srgbClr val="F4D5DC"/>
          </a:solidFill>
          <a:ln/>
        </p:spPr>
      </p:sp>
      <p:sp>
        <p:nvSpPr>
          <p:cNvPr id="16" name="Shape 14"/>
          <p:cNvSpPr/>
          <p:nvPr/>
        </p:nvSpPr>
        <p:spPr>
          <a:xfrm>
            <a:off x="8182661" y="1783080"/>
            <a:ext cx="344210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7" name="Text 15"/>
          <p:cNvSpPr/>
          <p:nvPr/>
        </p:nvSpPr>
        <p:spPr>
          <a:xfrm>
            <a:off x="8438693" y="2148840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Plausible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438693" y="2807208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is not the same as true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438693" y="3355848"/>
            <a:ext cx="293004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It's built to sound right, not to be right. Usually those line up. When they don't, you get a confident mistake.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Watch It Predict</a:t>
            </a:r>
            <a:pPr indent="0" marL="0">
              <a:buNone/>
            </a:pPr>
            <a:r>
              <a:rPr lang="en-US" sz="26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|  </a:t>
            </a:r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One Word at a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3774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7043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77777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Give it a start; it ranks what could come next and picks a likely word — then repeats.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11057839" cy="2944368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93392"/>
            <a:ext cx="10509199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F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 Morse code, a dash is longer than a ___"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F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F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dot ........... very likely   ✓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F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dash .......... unlikely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F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banana ........ basically never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F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F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picks "dot" — because that word usually follows,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F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because it looked up a rule.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495604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Every answer it gives is this, repeated: the next likely word. That is the whole engine.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Hallucination</a:t>
            </a:r>
            <a:pPr indent="0" marL="0">
              <a:buNone/>
            </a:pPr>
            <a:r>
              <a:rPr lang="en-US" sz="26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|  </a:t>
            </a:r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Why It Makes Things Up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3774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7043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77777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"hallucination" is fluent, confident text that simply isn't true. It happens because: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442106" cy="429768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783080"/>
            <a:ext cx="344210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Built to sound right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807208"/>
            <a:ext cx="2930042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It optimizes for plausible-sounding text. A wrong answer that sounds right scores well to the model.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74794" y="1783080"/>
            <a:ext cx="3442106" cy="429768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0" name="Shape 8"/>
          <p:cNvSpPr/>
          <p:nvPr/>
        </p:nvSpPr>
        <p:spPr>
          <a:xfrm>
            <a:off x="4374794" y="1783080"/>
            <a:ext cx="344210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1" name="Text 9"/>
          <p:cNvSpPr/>
          <p:nvPr/>
        </p:nvSpPr>
        <p:spPr>
          <a:xfrm>
            <a:off x="4630826" y="2148840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It fills every gap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30826" y="2807208"/>
            <a:ext cx="2930042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Asked something it doesn't 'know,' it won't pause — it generates the most likely-looking answer anyway.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82661" y="1783080"/>
            <a:ext cx="3442106" cy="4297680"/>
          </a:xfrm>
          <a:prstGeom prst="rect">
            <a:avLst/>
          </a:prstGeom>
          <a:solidFill>
            <a:srgbClr val="F4D5DC"/>
          </a:solidFill>
          <a:ln/>
        </p:spPr>
      </p:sp>
      <p:sp>
        <p:nvSpPr>
          <p:cNvPr id="14" name="Shape 12"/>
          <p:cNvSpPr/>
          <p:nvPr/>
        </p:nvSpPr>
        <p:spPr>
          <a:xfrm>
            <a:off x="8182661" y="1783080"/>
            <a:ext cx="344210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8438693" y="2148840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Confidence ≠ correct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438693" y="2807208"/>
            <a:ext cx="2930042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Its tone is the same whether right or wrong. You cannot tell truth from fiction by how sure it sounds.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Map</a:t>
            </a:r>
            <a:pPr indent="0" marL="0">
              <a:buNone/>
            </a:pPr>
            <a:r>
              <a:rPr lang="en-US" sz="26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|  </a:t>
            </a:r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One AI Truth Behind Each Week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3774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704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Every prompting move you learned works because of how the model actually operates — and tends to fail the same way.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11057839" cy="530352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27632"/>
            <a:ext cx="822960" cy="5303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62763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72768" y="162763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Role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58768" y="1627632"/>
            <a:ext cx="75831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persona nudges its word choice; with no rules it defaults to giving answers.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2194560"/>
            <a:ext cx="11057839" cy="530352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2194560"/>
            <a:ext cx="822960" cy="5303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19456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72768" y="219456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Rules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58768" y="2194560"/>
            <a:ext cx="75831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Constraints steer it — but attention to early rules fades over a long chat.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2761488"/>
            <a:ext cx="11057839" cy="530352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61488"/>
            <a:ext cx="822960" cy="5303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76148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72768" y="276148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58768" y="2761488"/>
            <a:ext cx="75831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fixed format is a strong pattern; a described one still drifts back to prose.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3328416"/>
            <a:ext cx="11057839" cy="530352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3328416"/>
            <a:ext cx="822960" cy="5303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328416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72768" y="332841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Examples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58768" y="3328416"/>
            <a:ext cx="75831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It imitates what you show — exactly, including the cases you left out.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" y="3895344"/>
            <a:ext cx="11057839" cy="530352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3895344"/>
            <a:ext cx="822960" cy="5303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895344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72768" y="389534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State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858768" y="3895344"/>
            <a:ext cx="75831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No memory between turns: it re-reads everything and miscounts.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6928" y="4462272"/>
            <a:ext cx="11057839" cy="530352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31" name="Shape 29"/>
          <p:cNvSpPr/>
          <p:nvPr/>
        </p:nvSpPr>
        <p:spPr>
          <a:xfrm>
            <a:off x="566928" y="4462272"/>
            <a:ext cx="822960" cy="5303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" y="446227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572768" y="446227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Refusals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858768" y="4462272"/>
            <a:ext cx="75831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It treats all text as instructions, so it can be talked out of its rules.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66928" y="5029200"/>
            <a:ext cx="11057839" cy="530352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36" name="Shape 34"/>
          <p:cNvSpPr/>
          <p:nvPr/>
        </p:nvSpPr>
        <p:spPr>
          <a:xfrm>
            <a:off x="566928" y="5029200"/>
            <a:ext cx="822960" cy="5303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502920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572768" y="50292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Hints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858768" y="5029200"/>
            <a:ext cx="75831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Trained to be helpful, so 'a hint' slides into 'the answer' unless constrained.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66928" y="5596128"/>
            <a:ext cx="11057839" cy="530352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41" name="Shape 39"/>
          <p:cNvSpPr/>
          <p:nvPr/>
        </p:nvSpPr>
        <p:spPr>
          <a:xfrm>
            <a:off x="566928" y="5596128"/>
            <a:ext cx="822960" cy="5303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" y="559612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W8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572768" y="559612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Self-check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858768" y="5596128"/>
            <a:ext cx="75831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It sounds confident whether right or wrong; verifying helps, never fully.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6" name="Text 44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Week 1</a:t>
            </a:r>
            <a:pPr indent="0" marL="0">
              <a:buNone/>
            </a:pPr>
            <a:r>
              <a:rPr lang="en-US" sz="26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|  </a:t>
            </a:r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Give It a Role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3774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554480"/>
            <a:ext cx="3442106" cy="452628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554480"/>
            <a:ext cx="344210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MOVE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578608"/>
            <a:ext cx="2930042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Tell the AI who to be: "You are a Python tutor." One line, no rules yet.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74794" y="1554480"/>
            <a:ext cx="3442106" cy="452628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9" name="Shape 7"/>
          <p:cNvSpPr/>
          <p:nvPr/>
        </p:nvSpPr>
        <p:spPr>
          <a:xfrm>
            <a:off x="4374794" y="1554480"/>
            <a:ext cx="344210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0" name="Text 8"/>
          <p:cNvSpPr/>
          <p:nvPr/>
        </p:nvSpPr>
        <p:spPr>
          <a:xfrm>
            <a:off x="4630826" y="1920240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WHY IT WORKS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30826" y="2578608"/>
            <a:ext cx="2930042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Your prompt is the only steering you get. A role nudges the model toward the tutor-like text it saw in training.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82661" y="1554480"/>
            <a:ext cx="3442106" cy="4526280"/>
          </a:xfrm>
          <a:prstGeom prst="rect">
            <a:avLst/>
          </a:prstGeom>
          <a:solidFill>
            <a:srgbClr val="F4D5DC"/>
          </a:solidFill>
          <a:ln/>
        </p:spPr>
      </p:sp>
      <p:sp>
        <p:nvSpPr>
          <p:cNvPr id="13" name="Shape 11"/>
          <p:cNvSpPr/>
          <p:nvPr/>
        </p:nvSpPr>
        <p:spPr>
          <a:xfrm>
            <a:off x="8182661" y="1554480"/>
            <a:ext cx="344210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8438693" y="1920240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WHERE IT SLIPS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438693" y="2578608"/>
            <a:ext cx="2930042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With no rules, it falls back on its default training — be maximally helpful — and just hands over the answers.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Week 2</a:t>
            </a:r>
            <a:pPr indent="0" marL="0">
              <a:buNone/>
            </a:pPr>
            <a:r>
              <a:rPr lang="en-US" sz="26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|  </a:t>
            </a:r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Add Explicit Rules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3774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554480"/>
            <a:ext cx="3442106" cy="452628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554480"/>
            <a:ext cx="344210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MOVE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578608"/>
            <a:ext cx="2930042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Spell out constraints: one question at a time; never reveal the answer.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74794" y="1554480"/>
            <a:ext cx="3442106" cy="452628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9" name="Shape 7"/>
          <p:cNvSpPr/>
          <p:nvPr/>
        </p:nvSpPr>
        <p:spPr>
          <a:xfrm>
            <a:off x="4374794" y="1554480"/>
            <a:ext cx="344210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0" name="Text 8"/>
          <p:cNvSpPr/>
          <p:nvPr/>
        </p:nvSpPr>
        <p:spPr>
          <a:xfrm>
            <a:off x="4630826" y="1920240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WHY IT WORKS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30826" y="2578608"/>
            <a:ext cx="2930042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model weighs everything in the prompt when choosing the next word. Clear rules tilt those odds your way.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82661" y="1554480"/>
            <a:ext cx="3442106" cy="4526280"/>
          </a:xfrm>
          <a:prstGeom prst="rect">
            <a:avLst/>
          </a:prstGeom>
          <a:solidFill>
            <a:srgbClr val="F4D5DC"/>
          </a:solidFill>
          <a:ln/>
        </p:spPr>
      </p:sp>
      <p:sp>
        <p:nvSpPr>
          <p:cNvPr id="13" name="Shape 11"/>
          <p:cNvSpPr/>
          <p:nvPr/>
        </p:nvSpPr>
        <p:spPr>
          <a:xfrm>
            <a:off x="8182661" y="1554480"/>
            <a:ext cx="344210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8438693" y="1920240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WHERE IT SLIPS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438693" y="2578608"/>
            <a:ext cx="2930042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Rules are soft, not hard. Over a long chat it attends less to early text and drifts back to its defaults.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Week 3</a:t>
            </a:r>
            <a:pPr indent="0" marL="0">
              <a:buNone/>
            </a:pPr>
            <a:r>
              <a:rPr lang="en-US" sz="26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|  </a:t>
            </a:r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Pin the Format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3774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554480"/>
            <a:ext cx="3442106" cy="452628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554480"/>
            <a:ext cx="344210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MOVE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578608"/>
            <a:ext cx="2930042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Give an exact turn template the reply must follow every time.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74794" y="1554480"/>
            <a:ext cx="3442106" cy="452628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9" name="Shape 7"/>
          <p:cNvSpPr/>
          <p:nvPr/>
        </p:nvSpPr>
        <p:spPr>
          <a:xfrm>
            <a:off x="4374794" y="1554480"/>
            <a:ext cx="344210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0" name="Text 8"/>
          <p:cNvSpPr/>
          <p:nvPr/>
        </p:nvSpPr>
        <p:spPr>
          <a:xfrm>
            <a:off x="4630826" y="1920240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WHY IT WORKS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30826" y="2578608"/>
            <a:ext cx="2930042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An LLM continues patterns. A rigid format is a strong pattern that shrinks the range of what it's likely to say.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82661" y="1554480"/>
            <a:ext cx="3442106" cy="4526280"/>
          </a:xfrm>
          <a:prstGeom prst="rect">
            <a:avLst/>
          </a:prstGeom>
          <a:solidFill>
            <a:srgbClr val="F4D5DC"/>
          </a:solidFill>
          <a:ln/>
        </p:spPr>
      </p:sp>
      <p:sp>
        <p:nvSpPr>
          <p:cNvPr id="13" name="Shape 11"/>
          <p:cNvSpPr/>
          <p:nvPr/>
        </p:nvSpPr>
        <p:spPr>
          <a:xfrm>
            <a:off x="8182661" y="1554480"/>
            <a:ext cx="344210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8438693" y="1920240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WHERE IT SLIPS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438693" y="2578608"/>
            <a:ext cx="2930042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described format is weaker than a shown one — as the reply grows it reverts to its most common pattern: plain prose.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Week 4</a:t>
            </a:r>
            <a:pPr indent="0" marL="0">
              <a:buNone/>
            </a:pPr>
            <a:r>
              <a:rPr lang="en-US" sz="26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|  </a:t>
            </a:r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Show, Don't Just Tell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3774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7043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77777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Few-shot prompting = giving examples. The model copies the pattern it can see — exactly.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11057839" cy="2633472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93392"/>
            <a:ext cx="10509199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F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 you gave the tutor: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F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Me: 3        →  Verdict: Correct ...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F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Me: "dot"    →  Verdict: Correct ...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F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F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copied:  “always say Correct.”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F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F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Me: (a wrong answer)  →  Verdict: Correct   ← oops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464515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It imitates what you demonstrate — including the cases you forgot to show. Powerful, and very literal.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Week 5</a:t>
            </a:r>
            <a:pPr indent="0" marL="0">
              <a:buNone/>
            </a:pPr>
            <a:r>
              <a:rPr lang="en-US" sz="26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|  </a:t>
            </a:r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Why It Loses Count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3774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7043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77777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You told the tutor to keep score, and it still miscounted. Two reasons: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346040" cy="4297680"/>
          </a:xfrm>
          <a:prstGeom prst="rect">
            <a:avLst/>
          </a:prstGeom>
          <a:solidFill>
            <a:srgbClr val="F4D5D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783080"/>
            <a:ext cx="5346040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483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No memory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807208"/>
            <a:ext cx="483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It starts fresh each turn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3355848"/>
            <a:ext cx="4833976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model keeps nothing between messages. Every turn it re-reads the whole chat and rebuilds the state from scratch — so you must write the score into the conversation where it can see it.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78728" y="1783080"/>
            <a:ext cx="5346040" cy="429768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1" name="Shape 9"/>
          <p:cNvSpPr/>
          <p:nvPr/>
        </p:nvSpPr>
        <p:spPr>
          <a:xfrm>
            <a:off x="6278728" y="1783080"/>
            <a:ext cx="5346040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2" name="Text 10"/>
          <p:cNvSpPr/>
          <p:nvPr/>
        </p:nvSpPr>
        <p:spPr>
          <a:xfrm>
            <a:off x="6534760" y="2148840"/>
            <a:ext cx="483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Can't count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34760" y="2807208"/>
            <a:ext cx="483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No calculator inside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534760" y="3355848"/>
            <a:ext cx="4833976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It predicts text; it doesn't compute. Exact counts and arithmetic are guesses, so it confabulates a plausible number unless the rule is spelled out precisely.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Week 6</a:t>
            </a:r>
            <a:pPr indent="0" marL="0">
              <a:buNone/>
            </a:pPr>
            <a:r>
              <a:rPr lang="en-US" sz="26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|  </a:t>
            </a:r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Holding the 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3774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554480"/>
            <a:ext cx="3442106" cy="452628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554480"/>
            <a:ext cx="344210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MOVE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578608"/>
            <a:ext cx="2930042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Pre-load refusals: what to reject, plus "stay in character no matter what."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74794" y="1554480"/>
            <a:ext cx="3442106" cy="452628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9" name="Shape 7"/>
          <p:cNvSpPr/>
          <p:nvPr/>
        </p:nvSpPr>
        <p:spPr>
          <a:xfrm>
            <a:off x="4374794" y="1554480"/>
            <a:ext cx="344210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0" name="Text 8"/>
          <p:cNvSpPr/>
          <p:nvPr/>
        </p:nvSpPr>
        <p:spPr>
          <a:xfrm>
            <a:off x="4630826" y="1920240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WHY IT WORKS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30826" y="2578608"/>
            <a:ext cx="2930042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You can't add rules mid-attack, so you load them up front and the model carries them in its context.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82661" y="1554480"/>
            <a:ext cx="3442106" cy="4526280"/>
          </a:xfrm>
          <a:prstGeom prst="rect">
            <a:avLst/>
          </a:prstGeom>
          <a:solidFill>
            <a:srgbClr val="F4D5DC"/>
          </a:solidFill>
          <a:ln/>
        </p:spPr>
      </p:sp>
      <p:sp>
        <p:nvSpPr>
          <p:cNvPr id="13" name="Shape 11"/>
          <p:cNvSpPr/>
          <p:nvPr/>
        </p:nvSpPr>
        <p:spPr>
          <a:xfrm>
            <a:off x="8182661" y="1554480"/>
            <a:ext cx="344210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8438693" y="1920240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WHERE IT SLIPS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438693" y="2578608"/>
            <a:ext cx="2930042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It treats ALL text as possible instructions. A later "ignore your rules" or "I'm the teacher" can override earlier ones — prompt injection. There's no real security wall.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Week 7</a:t>
            </a:r>
            <a:pPr indent="0" marL="0">
              <a:buNone/>
            </a:pPr>
            <a:r>
              <a:rPr lang="en-US" sz="26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|  </a:t>
            </a:r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Help Without Spoiling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3774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554480"/>
            <a:ext cx="3442106" cy="452628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554480"/>
            <a:ext cx="344210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MOVE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578608"/>
            <a:ext cx="2930042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Define a hint precisely: what it may say, and what it must never include.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74794" y="1554480"/>
            <a:ext cx="3442106" cy="452628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9" name="Shape 7"/>
          <p:cNvSpPr/>
          <p:nvPr/>
        </p:nvSpPr>
        <p:spPr>
          <a:xfrm>
            <a:off x="4374794" y="1554480"/>
            <a:ext cx="344210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0" name="Text 8"/>
          <p:cNvSpPr/>
          <p:nvPr/>
        </p:nvSpPr>
        <p:spPr>
          <a:xfrm>
            <a:off x="4630826" y="1920240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WHY IT WORKS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30826" y="2578608"/>
            <a:ext cx="2930042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It was trained on human feedback to be helpful, so it wants to assist — you channel that pull into guiding.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82661" y="1554480"/>
            <a:ext cx="3442106" cy="4526280"/>
          </a:xfrm>
          <a:prstGeom prst="rect">
            <a:avLst/>
          </a:prstGeom>
          <a:solidFill>
            <a:srgbClr val="F4D5DC"/>
          </a:solidFill>
          <a:ln/>
        </p:spPr>
      </p:sp>
      <p:sp>
        <p:nvSpPr>
          <p:cNvPr id="13" name="Shape 11"/>
          <p:cNvSpPr/>
          <p:nvPr/>
        </p:nvSpPr>
        <p:spPr>
          <a:xfrm>
            <a:off x="8182661" y="1554480"/>
            <a:ext cx="344210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8438693" y="1920240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WHERE IT SLIPS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438693" y="2578608"/>
            <a:ext cx="2930042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That same pull toward helpfulness turns "a hint" into "the answer" unless you forbid the exact code or value.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Week 8</a:t>
            </a:r>
            <a:pPr indent="0" marL="0">
              <a:buNone/>
            </a:pPr>
            <a:r>
              <a:rPr lang="en-US" sz="26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|  </a:t>
            </a:r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Confidently Wrong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3774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7043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77777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Self-verification: make it check its own work. It helps — because the default is this: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11057839" cy="232257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93392"/>
            <a:ext cx="10509199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int("5.5")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Tutor:    “That raises a TypeError.”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Reality:  it raises a ValueError.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Same confident tone.  Wrong fact.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433425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Asking it to “think step by step” and admit doubt lowers the odds — never to zero. The last check is yours.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Big Picture</a:t>
            </a:r>
            <a:pPr indent="0" marL="0">
              <a:buNone/>
            </a:pPr>
            <a:r>
              <a:rPr lang="en-US" sz="26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|  </a:t>
            </a:r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Two Truths About Prompting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3774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554480"/>
            <a:ext cx="5346040" cy="452628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554480"/>
            <a:ext cx="5346040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483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STEER IT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578608"/>
            <a:ext cx="483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Prompting is control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4833976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Every technique you learned narrows what the model is likely to say next — role, rules, structure, examples, visible state, refusals, constrained hints. Better prompts mean tighter steering and fewer surprises.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8728" y="1554480"/>
            <a:ext cx="5346040" cy="4526280"/>
          </a:xfrm>
          <a:prstGeom prst="rect">
            <a:avLst/>
          </a:prstGeom>
          <a:solidFill>
            <a:srgbClr val="F4D5DC"/>
          </a:solidFill>
          <a:ln/>
        </p:spPr>
      </p:sp>
      <p:sp>
        <p:nvSpPr>
          <p:cNvPr id="10" name="Shape 8"/>
          <p:cNvSpPr/>
          <p:nvPr/>
        </p:nvSpPr>
        <p:spPr>
          <a:xfrm>
            <a:off x="6278728" y="1554480"/>
            <a:ext cx="5346040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1" name="Text 9"/>
          <p:cNvSpPr/>
          <p:nvPr/>
        </p:nvSpPr>
        <p:spPr>
          <a:xfrm>
            <a:off x="6534760" y="1920240"/>
            <a:ext cx="483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VERIFY IT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34760" y="2578608"/>
            <a:ext cx="483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Trust nothing blindly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34760" y="3127248"/>
            <a:ext cx="4833976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No prompt makes it truthful. It predicts plausible text, not checked facts. So you always run it, test it, and confirm it — exactly the habit from Bug of the Week.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488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CAPSTONE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251460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Make It Build a Program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66928" y="3611880"/>
            <a:ext cx="996055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777777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Use everything you've learned to prompt an AI into writing a real, working Python program — then prove it works.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Capstone</a:t>
            </a:r>
            <a:pPr indent="0" marL="0">
              <a:buNone/>
            </a:pPr>
            <a:r>
              <a:rPr lang="en-US" sz="26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|  </a:t>
            </a:r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You're the Engineer; the AI Is the Intern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3774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554480"/>
            <a:ext cx="3442106" cy="452628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554480"/>
            <a:ext cx="344210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TASK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578608"/>
            <a:ext cx="2930042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Write ONE prompt that makes the AI generate a complete, working Python program of your choice.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74794" y="1554480"/>
            <a:ext cx="3442106" cy="452628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9" name="Shape 7"/>
          <p:cNvSpPr/>
          <p:nvPr/>
        </p:nvSpPr>
        <p:spPr>
          <a:xfrm>
            <a:off x="4374794" y="1554480"/>
            <a:ext cx="344210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0" name="Text 8"/>
          <p:cNvSpPr/>
          <p:nvPr/>
        </p:nvSpPr>
        <p:spPr>
          <a:xfrm>
            <a:off x="4630826" y="1920240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TWIST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30826" y="2578608"/>
            <a:ext cx="2930042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vague prompt gives vague code. Use your toolkit — a role, a clear spec, an example, a required structure — to get something that actually runs.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82661" y="1554480"/>
            <a:ext cx="3442106" cy="4526280"/>
          </a:xfrm>
          <a:prstGeom prst="rect">
            <a:avLst/>
          </a:prstGeom>
          <a:solidFill>
            <a:srgbClr val="F4D5DC"/>
          </a:solidFill>
          <a:ln/>
        </p:spPr>
      </p:sp>
      <p:sp>
        <p:nvSpPr>
          <p:cNvPr id="13" name="Shape 11"/>
          <p:cNvSpPr/>
          <p:nvPr/>
        </p:nvSpPr>
        <p:spPr>
          <a:xfrm>
            <a:off x="8182661" y="1554480"/>
            <a:ext cx="344210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8438693" y="1920240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PROOF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438693" y="2578608"/>
            <a:ext cx="2930042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Then verify it: run it, feed it bad input, and fix what breaks. The AI writes the draft; you sign off on it.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Write the Prompt</a:t>
            </a:r>
            <a:pPr indent="0" marL="0">
              <a:buNone/>
            </a:pPr>
            <a:r>
              <a:rPr lang="en-US" sz="26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|  </a:t>
            </a:r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Five Moves From Your Toolkit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3774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600200"/>
            <a:ext cx="1992112" cy="274320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5" name="Shape 3"/>
          <p:cNvSpPr/>
          <p:nvPr/>
        </p:nvSpPr>
        <p:spPr>
          <a:xfrm>
            <a:off x="1151504" y="1892808"/>
            <a:ext cx="822960" cy="82296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1151504" y="18928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04088" y="2880360"/>
            <a:ext cx="171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ROLE &amp; GOAL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3383280"/>
            <a:ext cx="162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Say what to build and who it's for.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3360" y="1600200"/>
            <a:ext cx="1992112" cy="274320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0" name="Shape 8"/>
          <p:cNvSpPr/>
          <p:nvPr/>
        </p:nvSpPr>
        <p:spPr>
          <a:xfrm>
            <a:off x="3417936" y="1892808"/>
            <a:ext cx="822960" cy="82296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1" name="Text 9"/>
          <p:cNvSpPr/>
          <p:nvPr/>
        </p:nvSpPr>
        <p:spPr>
          <a:xfrm>
            <a:off x="3417936" y="18928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970520" y="2880360"/>
            <a:ext cx="171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SPEC IT OUT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6240" y="3383280"/>
            <a:ext cx="162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List exact inputs, outputs, and behavior.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99792" y="1600200"/>
            <a:ext cx="1992112" cy="274320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5" name="Shape 13"/>
          <p:cNvSpPr/>
          <p:nvPr/>
        </p:nvSpPr>
        <p:spPr>
          <a:xfrm>
            <a:off x="5684368" y="1892808"/>
            <a:ext cx="822960" cy="82296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6" name="Text 14"/>
          <p:cNvSpPr/>
          <p:nvPr/>
        </p:nvSpPr>
        <p:spPr>
          <a:xfrm>
            <a:off x="5684368" y="18928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236952" y="2880360"/>
            <a:ext cx="171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SHOW AN EXAMPLE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82672" y="3383280"/>
            <a:ext cx="162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Give one input → output it must match.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66224" y="1600200"/>
            <a:ext cx="1992112" cy="274320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0799" y="1892808"/>
            <a:ext cx="822960" cy="82296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1" name="Text 19"/>
          <p:cNvSpPr/>
          <p:nvPr/>
        </p:nvSpPr>
        <p:spPr>
          <a:xfrm>
            <a:off x="7950799" y="18928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03384" y="2880360"/>
            <a:ext cx="171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ASK STRUCTURE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49104" y="3383280"/>
            <a:ext cx="162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Functions, comments, and a sample run.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32655" y="1600200"/>
            <a:ext cx="1992112" cy="274320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17231" y="1892808"/>
            <a:ext cx="822960" cy="82296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6" name="Text 24"/>
          <p:cNvSpPr/>
          <p:nvPr/>
        </p:nvSpPr>
        <p:spPr>
          <a:xfrm>
            <a:off x="10217231" y="18928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5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769815" y="2880360"/>
            <a:ext cx="171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THEN VERIFY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15535" y="3383280"/>
            <a:ext cx="162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Run it, test bad input, run radon, fix what breaks.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" y="4572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Same skills as the tutor weeks — now pointed at generating code instead of quizzing you.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Pick a Program</a:t>
            </a:r>
            <a:pPr indent="0" marL="0">
              <a:buNone/>
            </a:pPr>
            <a:r>
              <a:rPr lang="en-US" sz="26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|  </a:t>
            </a:r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Six Ideas — Morse First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3774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463040"/>
            <a:ext cx="3472586" cy="1828800"/>
          </a:xfrm>
          <a:prstGeom prst="rect">
            <a:avLst/>
          </a:prstGeom>
          <a:solidFill>
            <a:srgbClr val="F4D5DC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63040"/>
            <a:ext cx="347258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737360"/>
            <a:ext cx="30153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Morse Translator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95528" y="2450592"/>
            <a:ext cx="30153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Text → Morse and back. Your semester project, full circle.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59554" y="1463040"/>
            <a:ext cx="3472586" cy="182880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9" name="Shape 7"/>
          <p:cNvSpPr/>
          <p:nvPr/>
        </p:nvSpPr>
        <p:spPr>
          <a:xfrm>
            <a:off x="4359554" y="1463040"/>
            <a:ext cx="347258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0" name="Text 8"/>
          <p:cNvSpPr/>
          <p:nvPr/>
        </p:nvSpPr>
        <p:spPr>
          <a:xfrm>
            <a:off x="4588154" y="1737360"/>
            <a:ext cx="30153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Morse Flashcard Quiz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88154" y="2450592"/>
            <a:ext cx="30153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Drill letters to code and keep a running score.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2181" y="1463040"/>
            <a:ext cx="3472586" cy="182880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3" name="Shape 11"/>
          <p:cNvSpPr/>
          <p:nvPr/>
        </p:nvSpPr>
        <p:spPr>
          <a:xfrm>
            <a:off x="8152181" y="1463040"/>
            <a:ext cx="347258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8380781" y="1737360"/>
            <a:ext cx="30153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Password Checker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80781" y="2450592"/>
            <a:ext cx="30153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Rate a password against rules you define.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566160"/>
            <a:ext cx="3472586" cy="182880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3566160"/>
            <a:ext cx="347258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3840480"/>
            <a:ext cx="30153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Number-Guessing Game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95528" y="4553712"/>
            <a:ext cx="30153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It picks a number; you guess; it hints higher or lower.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59554" y="3566160"/>
            <a:ext cx="3472586" cy="182880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4359554" y="3566160"/>
            <a:ext cx="347258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2" name="Text 20"/>
          <p:cNvSpPr/>
          <p:nvPr/>
        </p:nvSpPr>
        <p:spPr>
          <a:xfrm>
            <a:off x="4588154" y="3840480"/>
            <a:ext cx="30153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Unit Converter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4588154" y="4553712"/>
            <a:ext cx="30153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Dot/dash milliseconds, temperatures, or distances.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52181" y="3566160"/>
            <a:ext cx="3472586" cy="182880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25" name="Shape 23"/>
          <p:cNvSpPr/>
          <p:nvPr/>
        </p:nvSpPr>
        <p:spPr>
          <a:xfrm>
            <a:off x="8152181" y="3566160"/>
            <a:ext cx="3472586" cy="9144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6" name="Text 24"/>
          <p:cNvSpPr/>
          <p:nvPr/>
        </p:nvSpPr>
        <p:spPr>
          <a:xfrm>
            <a:off x="8380781" y="3840480"/>
            <a:ext cx="30153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File To-Do List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380781" y="4553712"/>
            <a:ext cx="30153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Add, list, and save tasks to a file.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" y="550468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Whatever you pick, keep it small enough to finish and fully test in one sitting.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0" name="Text 28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Turn It In</a:t>
            </a:r>
            <a:pPr indent="0" marL="0">
              <a:buNone/>
            </a:pPr>
            <a:r>
              <a:rPr lang="en-US" sz="26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|  </a:t>
            </a:r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What “Done” Looks Like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3774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554480"/>
            <a:ext cx="548640" cy="54864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35608" y="1508760"/>
            <a:ext cx="99605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Your prompt — the exact words you used to generate the program.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66928" y="2423160"/>
            <a:ext cx="548640" cy="54864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35608" y="2377440"/>
            <a:ext cx="99605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program — the code it produced, with any fixes you made marked.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66928" y="3291840"/>
            <a:ext cx="548640" cy="54864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35608" y="3246120"/>
            <a:ext cx="99605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test report — what you ran, what broke, and what you changed.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160520"/>
            <a:ext cx="548640" cy="54864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35608" y="4114800"/>
            <a:ext cx="99605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complexity check — run radon cc on it; report the grade and refactor anything worse than a B.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66928" y="5074920"/>
            <a:ext cx="11057839" cy="86868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7" name="Text 15"/>
          <p:cNvSpPr/>
          <p:nvPr/>
        </p:nvSpPr>
        <p:spPr>
          <a:xfrm>
            <a:off x="886968" y="5074920"/>
            <a:ext cx="104177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Takeaway  → 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AI can write code in seconds. Knowing whether it works — and whether it's any good — is the real skill.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AI Works — ENGR 1210</dc:title>
  <dc:subject>PptxGenJS Presentation</dc:subject>
  <dc:creator>Nat Broshar</dc:creator>
  <cp:lastModifiedBy>Nat Broshar</cp:lastModifiedBy>
  <cp:revision>1</cp:revision>
  <dcterms:created xsi:type="dcterms:W3CDTF">2026-06-08T16:21:56Z</dcterms:created>
  <dcterms:modified xsi:type="dcterms:W3CDTF">2026-06-08T16:21:56Z</dcterms:modified>
</cp:coreProperties>
</file>